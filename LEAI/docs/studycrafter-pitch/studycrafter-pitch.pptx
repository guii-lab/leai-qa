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9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3"/>
    <p:restoredTop sz="94699"/>
  </p:normalViewPr>
  <p:slideViewPr>
    <p:cSldViewPr snapToGrid="0" snapToObjects="1">
      <p:cViewPr>
        <p:scale>
          <a:sx n="87" d="100"/>
          <a:sy n="87" d="100"/>
        </p:scale>
        <p:origin x="592" y="2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0000" y="1600000"/>
            <a:ext cx="104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400" b="1" i="0">
                <a:solidFill>
                  <a:srgbClr val="0F234E"/>
                </a:solidFill>
              </a:rPr>
              <a:t>LEAI — Learning Experience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0000" y="2700000"/>
            <a:ext cx="9400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 i="1" dirty="0" err="1">
                <a:solidFill>
                  <a:srgbClr val="475569"/>
                </a:solidFill>
              </a:rPr>
              <a:t>StudyHelper</a:t>
            </a:r>
            <a:r>
              <a:rPr sz="2200" b="0" i="1" dirty="0">
                <a:solidFill>
                  <a:srgbClr val="475569"/>
                </a:solidFill>
              </a:rPr>
              <a:t> helps students learn. LEAI listens to how it went.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4500000"/>
            <a:ext cx="10400000" cy="12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0000" y="4800000"/>
            <a:ext cx="104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0F234E"/>
                </a:solidFill>
              </a:rPr>
              <a:t>PromptDesigner   →   FeedbackCollector   →   FeedbackAnalyzer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50000"/>
            <a:ext cx="1219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</a:rPr>
              <a:t>GUII Lab · UC Santa Cruz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4E409-1A7F-F099-E008-AFCEF77F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976BD4-FE75-822B-D59C-D832D869BAFB}"/>
              </a:ext>
            </a:extLst>
          </p:cNvPr>
          <p:cNvSpPr txBox="1"/>
          <p:nvPr/>
        </p:nvSpPr>
        <p:spPr>
          <a:xfrm>
            <a:off x="600000" y="40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0F234E"/>
                </a:solidFill>
              </a:rPr>
              <a:t>Set up a survey in minutes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7B02B-B6BF-B7FB-E325-AA0378009BC1}"/>
              </a:ext>
            </a:extLst>
          </p:cNvPr>
          <p:cNvSpPr txBox="1"/>
          <p:nvPr/>
        </p:nvSpPr>
        <p:spPr>
          <a:xfrm>
            <a:off x="600000" y="1100000"/>
            <a:ext cx="11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1">
                <a:solidFill>
                  <a:srgbClr val="475569"/>
                </a:solidFill>
              </a:rPr>
              <a:t>Pick a template.   Write the bot's voice.   Share a link.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508C2-37C3-AA62-6D65-6DAAEED87476}"/>
              </a:ext>
            </a:extLst>
          </p:cNvPr>
          <p:cNvSpPr txBox="1"/>
          <p:nvPr/>
        </p:nvSpPr>
        <p:spPr>
          <a:xfrm>
            <a:off x="600000" y="6359500"/>
            <a:ext cx="11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 dirty="0">
                <a:solidFill>
                  <a:srgbClr val="C2410C"/>
                </a:solidFill>
              </a:rPr>
              <a:t>Three modes:  Free-Form  ·  In-Group  ·  Structured Reflection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368392-9B7E-40FC-78A7-0F1D1F230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000"/>
            <a:ext cx="7885843" cy="4935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25102E-9584-CF54-9FE4-4E2F000FC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740" y="1328600"/>
            <a:ext cx="7885843" cy="49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194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0000" y="40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F234E"/>
                </a:solidFill>
              </a:rPr>
              <a:t>Structured Reflection — when every section must be answered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84EF956-F508-A71C-A710-217D93BE0738}"/>
              </a:ext>
            </a:extLst>
          </p:cNvPr>
          <p:cNvGrpSpPr/>
          <p:nvPr/>
        </p:nvGrpSpPr>
        <p:grpSpPr>
          <a:xfrm>
            <a:off x="596000" y="5628887"/>
            <a:ext cx="11000000" cy="1350000"/>
            <a:chOff x="600000" y="5100000"/>
            <a:chExt cx="11000000" cy="1350000"/>
          </a:xfrm>
        </p:grpSpPr>
        <p:sp>
          <p:nvSpPr>
            <p:cNvPr id="6" name="Rectangle 5"/>
            <p:cNvSpPr/>
            <p:nvPr/>
          </p:nvSpPr>
          <p:spPr>
            <a:xfrm>
              <a:off x="600000" y="5100000"/>
              <a:ext cx="11000000" cy="10080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0000" y="5250000"/>
              <a:ext cx="10600000" cy="120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600" b="1" i="0" dirty="0">
                  <a:solidFill>
                    <a:srgbClr val="C2410C"/>
                  </a:solidFill>
                </a:rPr>
                <a:t>What:  </a:t>
              </a:r>
              <a:r>
                <a:rPr sz="1600" dirty="0">
                  <a:solidFill>
                    <a:srgbClr val="0F172A"/>
                  </a:solidFill>
                </a:rPr>
                <a:t>AI walks every section in order.</a:t>
              </a:r>
            </a:p>
            <a:p>
              <a:pPr algn="l"/>
              <a:r>
                <a:rPr sz="1600" b="1" dirty="0">
                  <a:solidFill>
                    <a:srgbClr val="C2410C"/>
                  </a:solidFill>
                </a:rPr>
                <a:t>Why:  </a:t>
              </a:r>
              <a:r>
                <a:rPr sz="1600" dirty="0">
                  <a:solidFill>
                    <a:srgbClr val="0F172A"/>
                  </a:solidFill>
                </a:rPr>
                <a:t>When you need every section answered — for example, a graded team reflection.</a:t>
              </a:r>
            </a:p>
            <a:p>
              <a:pPr algn="l"/>
              <a:r>
                <a:rPr sz="1600" b="1" dirty="0">
                  <a:solidFill>
                    <a:srgbClr val="C2410C"/>
                  </a:solidFill>
                </a:rPr>
                <a:t>How:  </a:t>
              </a:r>
              <a:r>
                <a:rPr sz="1600" dirty="0">
                  <a:solidFill>
                    <a:srgbClr val="0F172A"/>
                  </a:solidFill>
                </a:rPr>
                <a:t>Instructor picks a schema in Prompt Designer. Student sees a normal chat.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F1D6DEA-F282-E8CE-F3FE-708D429D3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750000"/>
            <a:ext cx="7772400" cy="4864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3B7BC6-7B99-6758-9CE8-1BE662078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488" y="974364"/>
            <a:ext cx="7772400" cy="43369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0000" y="40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0F234E"/>
                </a:solidFill>
              </a:rPr>
              <a:t>What students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150000"/>
            <a:ext cx="11000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C2410C"/>
                </a:solidFill>
              </a:rPr>
              <a:t>Conversational  ·  Anonymous  ·  Group-aware  ·  Voice-input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B9B9C8-9106-99F9-027A-EDD7CC0BE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0" y="1525050"/>
            <a:ext cx="7772400" cy="43226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D97810-A6C3-80D8-242A-88CCE1A25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683316"/>
            <a:ext cx="7772400" cy="51643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0000" y="40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0F234E"/>
                </a:solidFill>
              </a:rPr>
              <a:t>From conversations to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100000"/>
            <a:ext cx="11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C2410C"/>
                </a:solidFill>
              </a:rPr>
              <a:t>Quicktake  ·  Keyness  ·  Raw responses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000" y="6040000"/>
            <a:ext cx="11000000" cy="8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000" y="6190000"/>
            <a:ext cx="10600000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 dirty="0">
                <a:solidFill>
                  <a:srgbClr val="0F172A"/>
                </a:solidFill>
              </a:rPr>
              <a:t>Free-form chat is rich but messy. We did not want instructors to trust one black-box summary. Three views, so you can triangulate.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620000"/>
            <a:ext cx="1179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 dirty="0">
                <a:solidFill>
                  <a:srgbClr val="475569"/>
                </a:solidFill>
              </a:rPr>
              <a:t>More at </a:t>
            </a:r>
            <a:r>
              <a:rPr lang="en-US" sz="1000" dirty="0">
                <a:solidFill>
                  <a:srgbClr val="475569"/>
                </a:solidFill>
              </a:rPr>
              <a:t>https://</a:t>
            </a:r>
            <a:r>
              <a:rPr lang="en-US" sz="1000" dirty="0" err="1">
                <a:solidFill>
                  <a:srgbClr val="475569"/>
                </a:solidFill>
              </a:rPr>
              <a:t>guii-lab.github.io</a:t>
            </a:r>
            <a:r>
              <a:rPr lang="en-US" sz="1000" dirty="0">
                <a:solidFill>
                  <a:srgbClr val="475569"/>
                </a:solidFill>
              </a:rPr>
              <a:t>/LEAI/instructor-</a:t>
            </a:r>
            <a:r>
              <a:rPr lang="en-US" sz="1000" dirty="0" err="1">
                <a:solidFill>
                  <a:srgbClr val="475569"/>
                </a:solidFill>
              </a:rPr>
              <a:t>guide.html</a:t>
            </a:r>
            <a:endParaRPr sz="1000" b="0" i="0" dirty="0">
              <a:solidFill>
                <a:srgbClr val="475569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D1D2D6F-BA4D-60B4-84F5-55038FC41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3774" y="1325202"/>
            <a:ext cx="6038787" cy="50344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4AD5797-DD1F-4B7F-76C0-D397B250E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057" y="1100000"/>
            <a:ext cx="7996900" cy="50061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AD06F-E487-52F7-969E-7A0A94C13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C9FCA-E17C-1386-CE5D-24D6BE27262C}"/>
              </a:ext>
            </a:extLst>
          </p:cNvPr>
          <p:cNvSpPr txBox="1"/>
          <p:nvPr/>
        </p:nvSpPr>
        <p:spPr>
          <a:xfrm>
            <a:off x="600000" y="40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0F234E"/>
                </a:solidFill>
              </a:rPr>
              <a:t>From conversations to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9379C-55D3-DC7E-4AA3-7F182BBEEB9E}"/>
              </a:ext>
            </a:extLst>
          </p:cNvPr>
          <p:cNvSpPr txBox="1"/>
          <p:nvPr/>
        </p:nvSpPr>
        <p:spPr>
          <a:xfrm>
            <a:off x="600000" y="1100000"/>
            <a:ext cx="110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C2410C"/>
                </a:solidFill>
              </a:rPr>
              <a:t>Quicktake  ·  Keyness  ·  Raw responses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A6A8A8-01C5-7A89-B237-3337E6667B08}"/>
              </a:ext>
            </a:extLst>
          </p:cNvPr>
          <p:cNvSpPr txBox="1"/>
          <p:nvPr/>
        </p:nvSpPr>
        <p:spPr>
          <a:xfrm>
            <a:off x="0" y="6620000"/>
            <a:ext cx="11792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0" i="0" dirty="0">
                <a:solidFill>
                  <a:srgbClr val="475569"/>
                </a:solidFill>
              </a:rPr>
              <a:t>More at </a:t>
            </a:r>
            <a:r>
              <a:rPr lang="en-US" sz="1400" dirty="0">
                <a:solidFill>
                  <a:srgbClr val="475569"/>
                </a:solidFill>
              </a:rPr>
              <a:t>https://</a:t>
            </a:r>
            <a:r>
              <a:rPr lang="en-US" sz="1400" dirty="0" err="1">
                <a:solidFill>
                  <a:srgbClr val="475569"/>
                </a:solidFill>
              </a:rPr>
              <a:t>guii-lab.github.io</a:t>
            </a:r>
            <a:r>
              <a:rPr lang="en-US" sz="1400" dirty="0">
                <a:solidFill>
                  <a:srgbClr val="475569"/>
                </a:solidFill>
              </a:rPr>
              <a:t>/LEAI/instructor-</a:t>
            </a:r>
            <a:r>
              <a:rPr lang="en-US" sz="1400" dirty="0" err="1">
                <a:solidFill>
                  <a:srgbClr val="475569"/>
                </a:solidFill>
              </a:rPr>
              <a:t>guide.html</a:t>
            </a:r>
            <a:endParaRPr sz="1400" b="0" i="0" dirty="0">
              <a:solidFill>
                <a:srgbClr val="475569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5F2C9C-45DF-DA38-3DB4-CEAAC1F4A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6400" y="1505500"/>
            <a:ext cx="7772400" cy="50155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55B86C-9308-1663-0969-49322AB5F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669" y="1350000"/>
            <a:ext cx="7772400" cy="486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78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193</Words>
  <Application>Microsoft Macintosh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Jiahong Li</cp:lastModifiedBy>
  <cp:revision>5</cp:revision>
  <dcterms:created xsi:type="dcterms:W3CDTF">2013-01-27T09:14:16Z</dcterms:created>
  <dcterms:modified xsi:type="dcterms:W3CDTF">2026-05-07T07:29:58Z</dcterms:modified>
  <cp:category/>
</cp:coreProperties>
</file>